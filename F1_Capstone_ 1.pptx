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962F52-6E7B-0081-8B0D-E580C9D46130}" v="49" dt="2026-04-20T22:49:46.7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D0D0E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D0D0E0"/>
                </a:solidFill>
                <a:latin typeface="Arial"/>
              </a:rPr>
              <a:t>Win Rate % by Grid Position (2010–2023)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Rate %</c:v>
                </c:pt>
              </c:strCache>
            </c:strRef>
          </c:tx>
          <c:spPr>
            <a:solidFill>
              <a:srgbClr val="E8002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D5F-46E6-9C06-42A9BBBDBEE5}"/>
              </c:ext>
            </c:extLst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D5F-46E6-9C06-42A9BBBDBEE5}"/>
              </c:ext>
            </c:extLst>
          </c:dPt>
          <c:dPt>
            <c:idx val="2"/>
            <c:invertIfNegative val="0"/>
            <c:bubble3D val="0"/>
            <c:spPr>
              <a:solidFill>
                <a:srgbClr val="A932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D5F-46E6-9C06-42A9BBBDBEE5}"/>
              </c:ext>
            </c:extLst>
          </c:dPt>
          <c:dPt>
            <c:idx val="3"/>
            <c:invertIfNegative val="0"/>
            <c:bubble3D val="0"/>
            <c:spPr>
              <a:solidFill>
                <a:srgbClr val="922B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D5F-46E6-9C06-42A9BBBDBEE5}"/>
              </c:ext>
            </c:extLst>
          </c:dPt>
          <c:dPt>
            <c:idx val="4"/>
            <c:invertIfNegative val="0"/>
            <c:bubble3D val="0"/>
            <c:spPr>
              <a:solidFill>
                <a:srgbClr val="7B24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D5F-46E6-9C06-42A9BBBDBEE5}"/>
              </c:ext>
            </c:extLst>
          </c:dPt>
          <c:dPt>
            <c:idx val="5"/>
            <c:invertIfNegative val="0"/>
            <c:bubble3D val="0"/>
            <c:spPr>
              <a:solidFill>
                <a:srgbClr val="641E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D5F-46E6-9C06-42A9BBBDBEE5}"/>
              </c:ext>
            </c:extLst>
          </c:dPt>
          <c:dPt>
            <c:idx val="6"/>
            <c:invertIfNegative val="0"/>
            <c:bubble3D val="0"/>
            <c:spPr>
              <a:solidFill>
                <a:srgbClr val="4C10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D5F-46E6-9C06-42A9BBBDBEE5}"/>
              </c:ext>
            </c:extLst>
          </c:dPt>
          <c:dPt>
            <c:idx val="7"/>
            <c:invertIfNegative val="0"/>
            <c:bubble3D val="0"/>
            <c:spPr>
              <a:solidFill>
                <a:srgbClr val="3B0A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D5F-46E6-9C06-42A9BBBDBEE5}"/>
              </c:ext>
            </c:extLst>
          </c:dPt>
          <c:dPt>
            <c:idx val="8"/>
            <c:invertIfNegative val="0"/>
            <c:bubble3D val="0"/>
            <c:spPr>
              <a:solidFill>
                <a:srgbClr val="2A06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FD5F-46E6-9C06-42A9BBBDBEE5}"/>
              </c:ext>
            </c:extLst>
          </c:dPt>
          <c:dPt>
            <c:idx val="9"/>
            <c:invertIfNegative val="0"/>
            <c:bubble3D val="0"/>
            <c:spPr>
              <a:solidFill>
                <a:srgbClr val="1A030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FD5F-46E6-9C06-42A9BBBDBEE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0F0F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P1 (Pole)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  <c:pt idx="6">
                  <c:v>P7</c:v>
                </c:pt>
                <c:pt idx="7">
                  <c:v>P8</c:v>
                </c:pt>
                <c:pt idx="8">
                  <c:v>P9</c:v>
                </c:pt>
                <c:pt idx="9">
                  <c:v>P10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38</c:v>
                </c:pt>
                <c:pt idx="1">
                  <c:v>19</c:v>
                </c:pt>
                <c:pt idx="2">
                  <c:v>12</c:v>
                </c:pt>
                <c:pt idx="3">
                  <c:v>8</c:v>
                </c:pt>
                <c:pt idx="4">
                  <c:v>5</c:v>
                </c:pt>
                <c:pt idx="5">
                  <c:v>4</c:v>
                </c:pt>
                <c:pt idx="6">
                  <c:v>3</c:v>
                </c:pt>
                <c:pt idx="7">
                  <c:v>3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FD5F-46E6-9C06-42A9BBBDBE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7A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E2E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7A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1E2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D0D0E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D0D0E0"/>
                </a:solidFill>
                <a:latin typeface="Arial"/>
              </a:rPr>
              <a:t>Feature Importance by Cascade Stage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A – Points Filter</c:v>
                </c:pt>
              </c:strCache>
            </c:strRef>
          </c:tx>
          <c:spPr>
            <a:solidFill>
              <a:srgbClr val="E8002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grid_pos</c:v>
                </c:pt>
                <c:pt idx="1">
                  <c:v>reliability_risk</c:v>
                </c:pt>
                <c:pt idx="2">
                  <c:v>team_pts_roll</c:v>
                </c:pt>
                <c:pt idx="3">
                  <c:v>pace_z_score</c:v>
                </c:pt>
                <c:pt idx="4">
                  <c:v>circuit_spec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0.31</c:v>
                </c:pt>
                <c:pt idx="1">
                  <c:v>0.24</c:v>
                </c:pt>
                <c:pt idx="2">
                  <c:v>0.19</c:v>
                </c:pt>
                <c:pt idx="3">
                  <c:v>0.15</c:v>
                </c:pt>
                <c:pt idx="4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A7-46F8-9E2E-1D91264EE4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B – Podium Filter</c:v>
                </c:pt>
              </c:strCache>
            </c:strRef>
          </c:tx>
          <c:spPr>
            <a:solidFill>
              <a:srgbClr val="FFD70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grid_pos</c:v>
                </c:pt>
                <c:pt idx="1">
                  <c:v>reliability_risk</c:v>
                </c:pt>
                <c:pt idx="2">
                  <c:v>team_pts_roll</c:v>
                </c:pt>
                <c:pt idx="3">
                  <c:v>pace_z_score</c:v>
                </c:pt>
                <c:pt idx="4">
                  <c:v>circuit_spec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0.22</c:v>
                </c:pt>
                <c:pt idx="1">
                  <c:v>0.11</c:v>
                </c:pt>
                <c:pt idx="2">
                  <c:v>0.2</c:v>
                </c:pt>
                <c:pt idx="3">
                  <c:v>0.28000000000000003</c:v>
                </c:pt>
                <c:pt idx="4">
                  <c:v>0.19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A7-46F8-9E2E-1D91264EE4C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C – Winner Specialist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grid_pos</c:v>
                </c:pt>
                <c:pt idx="1">
                  <c:v>reliability_risk</c:v>
                </c:pt>
                <c:pt idx="2">
                  <c:v>team_pts_roll</c:v>
                </c:pt>
                <c:pt idx="3">
                  <c:v>pace_z_score</c:v>
                </c:pt>
                <c:pt idx="4">
                  <c:v>circuit_spec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0.14000000000000001</c:v>
                </c:pt>
                <c:pt idx="1">
                  <c:v>0.06</c:v>
                </c:pt>
                <c:pt idx="2">
                  <c:v>0.16</c:v>
                </c:pt>
                <c:pt idx="3">
                  <c:v>0.38</c:v>
                </c:pt>
                <c:pt idx="4">
                  <c:v>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9A7-46F8-9E2E-1D91264EE4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7A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E2E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7A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7A7A9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1E2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D0D0E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D0D0E0"/>
                </a:solidFill>
                <a:latin typeface="Arial"/>
              </a:rPr>
              <a:t>5-Fold Time-Series CV AUC — Model 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AUC</c:v>
                </c:pt>
              </c:strCache>
            </c:strRef>
          </c:tx>
          <c:spPr>
            <a:solidFill>
              <a:srgbClr val="E8002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DB1-4A1D-B87C-10F20AEE7DC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DB1-4A1D-B87C-10F20AEE7DC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DB1-4A1D-B87C-10F20AEE7DC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DB1-4A1D-B87C-10F20AEE7DC2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5DB1-4A1D-B87C-10F20AEE7DC2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0F0F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Fold 1</c:v>
                </c:pt>
                <c:pt idx="1">
                  <c:v>Fold 2</c:v>
                </c:pt>
                <c:pt idx="2">
                  <c:v>Fold 3</c:v>
                </c:pt>
                <c:pt idx="3">
                  <c:v>Fold 4</c:v>
                </c:pt>
                <c:pt idx="4">
                  <c:v>Fold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0.92400000000000004</c:v>
                </c:pt>
                <c:pt idx="1">
                  <c:v>0.93799999999999994</c:v>
                </c:pt>
                <c:pt idx="2">
                  <c:v>0.91100000000000003</c:v>
                </c:pt>
                <c:pt idx="3">
                  <c:v>0.94499999999999995</c:v>
                </c:pt>
                <c:pt idx="4">
                  <c:v>0.93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DB1-4A1D-B87C-10F20AEE7D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7A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85"/>
        </c:scaling>
        <c:delete val="0"/>
        <c:axPos val="l"/>
        <c:majorGridlines>
          <c:spPr>
            <a:ln w="6350" cap="flat">
              <a:solidFill>
                <a:srgbClr val="2E2E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7A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1E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03E013-1043-40FE-B25B-33109289DDEA}" type="datetimeFigureOut"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68AE4A-A265-4186-9E64-C324539922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11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40080"/>
            <a:ext cx="8412480" cy="0"/>
          </a:xfrm>
          <a:prstGeom prst="line">
            <a:avLst/>
          </a:prstGeom>
          <a:noFill/>
          <a:ln w="6350">
            <a:solidFill>
              <a:srgbClr val="2A2A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8412480" cy="0"/>
          </a:xfrm>
          <a:prstGeom prst="line">
            <a:avLst/>
          </a:prstGeom>
          <a:noFill/>
          <a:ln w="6350">
            <a:solidFill>
              <a:srgbClr val="2A2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8412480" cy="0"/>
          </a:xfrm>
          <a:prstGeom prst="line">
            <a:avLst/>
          </a:prstGeom>
          <a:noFill/>
          <a:ln w="6350">
            <a:solidFill>
              <a:srgbClr val="2A2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86000"/>
            <a:ext cx="8412480" cy="0"/>
          </a:xfrm>
          <a:prstGeom prst="line">
            <a:avLst/>
          </a:prstGeom>
          <a:noFill/>
          <a:ln w="6350">
            <a:solidFill>
              <a:srgbClr val="2A2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834640"/>
            <a:ext cx="8412480" cy="0"/>
          </a:xfrm>
          <a:prstGeom prst="line">
            <a:avLst/>
          </a:prstGeom>
          <a:noFill/>
          <a:ln w="6350">
            <a:solidFill>
              <a:srgbClr val="2A2A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383280"/>
            <a:ext cx="8412480" cy="0"/>
          </a:xfrm>
          <a:prstGeom prst="line">
            <a:avLst/>
          </a:prstGeom>
          <a:noFill/>
          <a:ln w="6350">
            <a:solidFill>
              <a:srgbClr val="2A2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931920"/>
            <a:ext cx="8412480" cy="0"/>
          </a:xfrm>
          <a:prstGeom prst="line">
            <a:avLst/>
          </a:prstGeom>
          <a:noFill/>
          <a:ln w="6350">
            <a:solidFill>
              <a:srgbClr val="2A2A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4480560"/>
            <a:ext cx="8412480" cy="0"/>
          </a:xfrm>
          <a:prstGeom prst="line">
            <a:avLst/>
          </a:prstGeom>
          <a:noFill/>
          <a:ln w="6350">
            <a:solidFill>
              <a:srgbClr val="2A2A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411480"/>
            <a:ext cx="1463040" cy="20116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114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0F0F8"/>
                </a:solidFill>
              </a:rPr>
              <a:t>DATA 4382 · CAPSTONE II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48640" y="77724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 Qualifying Predict Race Outcomes in F1?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8640" y="2487168"/>
            <a:ext cx="1463040" cy="45720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9689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0E0"/>
                </a:solidFill>
              </a:rPr>
              <a:t>3-Stage Cascade Classifier · XGBoost · Cost-Sensitive Learning · SHAP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005840"/>
            <a:ext cx="2423160" cy="141732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005840"/>
            <a:ext cx="54864" cy="1417320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1115568"/>
            <a:ext cx="214884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0D0E0"/>
                </a:solidFill>
              </a:rPr>
              <a:t>Ahnaf Harappa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D0D0E0"/>
                </a:solidFill>
              </a:rPr>
              <a:t>Tajwar </a:t>
            </a:r>
            <a:r>
              <a:rPr lang="en-US" sz="1100" b="1" dirty="0" err="1">
                <a:solidFill>
                  <a:srgbClr val="D0D0E0"/>
                </a:solidFill>
              </a:rPr>
              <a:t>Fahmid</a:t>
            </a:r>
            <a:endParaRPr lang="en-US" sz="1100" dirty="0" err="1"/>
          </a:p>
          <a:p>
            <a:r>
              <a:rPr lang="en-US" sz="1100">
                <a:solidFill>
                  <a:srgbClr val="D0D0E0"/>
                </a:solidFill>
              </a:rPr>
              <a:t>Advisor – Dr. Masoud Rostami </a:t>
            </a:r>
            <a:endParaRPr lang="en-US" sz="1100" dirty="0">
              <a:solidFill>
                <a:srgbClr val="000000"/>
              </a:solidFill>
            </a:endParaRPr>
          </a:p>
          <a:p>
            <a:pPr marL="0" indent="0" algn="l">
              <a:buNone/>
            </a:pPr>
            <a:r>
              <a:rPr lang="en-US" sz="1100">
                <a:solidFill>
                  <a:srgbClr val="D0D0E0"/>
                </a:solidFill>
              </a:rPr>
              <a:t>DATA 4382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154680"/>
            <a:ext cx="1783080" cy="9144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154680"/>
            <a:ext cx="54864" cy="914400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227832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0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58368" y="3721608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7A90"/>
                </a:solidFill>
              </a:rPr>
              <a:t>CSV Files Merged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14600" y="3154680"/>
            <a:ext cx="1783080" cy="9144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14600" y="3154680"/>
            <a:ext cx="54864" cy="9144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24328" y="3227832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2624328" y="3721608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7A90"/>
                </a:solidFill>
              </a:rPr>
              <a:t>Cascade Models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80560" y="3154680"/>
            <a:ext cx="1783080" cy="9144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0" y="3154680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0288" y="3227832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2010–23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90288" y="3721608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7A90"/>
                </a:solidFill>
              </a:rPr>
              <a:t>Train Window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0116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0F0F8"/>
                </a:solidFill>
              </a:rPr>
              <a:t>RESEARCH CONTEXT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 &amp; Persona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840480" cy="329184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" cy="3291840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002D"/>
                </a:solidFill>
              </a:rPr>
              <a:t>PERSONA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F1 Fan &amp; Race Analyst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700"/>
                </a:solidFill>
              </a:rPr>
              <a:t>Goal: </a:t>
            </a:r>
            <a:r>
              <a:rPr lang="en-US" sz="1100" dirty="0">
                <a:solidFill>
                  <a:srgbClr val="D0D0E0"/>
                </a:solidFill>
              </a:rPr>
              <a:t>Predict race finishing positions before the lights go out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1576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700"/>
                </a:solidFill>
              </a:rPr>
              <a:t>Priority: </a:t>
            </a:r>
            <a:r>
              <a:rPr lang="en-US" sz="1100" dirty="0">
                <a:solidFill>
                  <a:srgbClr val="D0D0E0"/>
                </a:solidFill>
              </a:rPr>
              <a:t>Accuracy on rare events — podiums &amp; wins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8269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700"/>
                </a:solidFill>
              </a:rPr>
              <a:t>Decision: </a:t>
            </a:r>
            <a:r>
              <a:rPr lang="en-US" sz="1100" dirty="0">
                <a:solidFill>
                  <a:srgbClr val="D0D0E0"/>
                </a:solidFill>
              </a:rPr>
              <a:t>Should I trust a qualifying result as a race predictor?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84962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700"/>
                </a:solidFill>
              </a:rPr>
              <a:t>Pain Point: </a:t>
            </a:r>
            <a:r>
              <a:rPr lang="en-US" sz="1100" dirty="0">
                <a:solidFill>
                  <a:srgbClr val="D0D0E0"/>
                </a:solidFill>
              </a:rPr>
              <a:t>Standard models always predict mid-field; never the winner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4023360" cy="329184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325880"/>
            <a:ext cx="54864" cy="3291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1737360"/>
            <a:ext cx="201168" cy="20116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171907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8"/>
                </a:solidFill>
              </a:rPr>
              <a:t>Class Imbalance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19385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90"/>
                </a:solidFill>
              </a:rPr>
              <a:t>Only 1 winner per 20 drivers — standard models predict everyone mid-field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2450592"/>
            <a:ext cx="201168" cy="20116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43230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8"/>
                </a:solidFill>
              </a:rPr>
              <a:t>Data Leakage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26517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90"/>
                </a:solidFill>
              </a:rPr>
              <a:t>Random 80/20 split lets models 'see' future seasons during training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3163824"/>
            <a:ext cx="201168" cy="20116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314553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8"/>
                </a:solidFill>
              </a:rPr>
              <a:t>Pre-Modern Era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33649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90"/>
                </a:solidFill>
              </a:rPr>
              <a:t>1950–2010 data has no qualifying records — removed to preserve accuracy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3877056"/>
            <a:ext cx="201168" cy="20116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85876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8"/>
                </a:solidFill>
              </a:rPr>
              <a:t>Black Swan Events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40782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90"/>
                </a:solidFill>
              </a:rPr>
              <a:t>Crashes, safety cars, mechanical failures introduce irreducible randomness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A7A90"/>
                </a:solidFill>
              </a:rPr>
              <a:t>"F1 is one of the most unpredictable sports — a championship leader can retire last due to car failure."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0116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0F0F8"/>
                </a:solidFill>
              </a:rPr>
              <a:t>DATA PIPELINE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&amp; Feature Engineering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97480" cy="25146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" cy="2514600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173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Driver Factors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18745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D0D0E0"/>
                </a:solidFill>
              </a:rPr>
              <a:t>●  grid_pos (qualifying position)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D0D0E0"/>
                </a:solidFill>
              </a:rPr>
              <a:t>●  pace_z_score vs field avg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D0D0E0"/>
                </a:solidFill>
              </a:rPr>
              <a:t>●  prev_driver_rank (championship)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D0D0E0"/>
                </a:solidFill>
              </a:rPr>
              <a:t>●  rolling_pace (last 3 races)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0128" y="1325880"/>
            <a:ext cx="2697480" cy="25146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325880"/>
            <a:ext cx="54864" cy="25146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1296" y="14173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Constructor Factors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11296" y="18745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D0D0E0"/>
                </a:solidFill>
              </a:rPr>
              <a:t>●  team_pts_rolling_avg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D0D0E0"/>
                </a:solidFill>
              </a:rPr>
              <a:t>●  Constructor championship rank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D0D0E0"/>
                </a:solidFill>
              </a:rPr>
              <a:t>●  Reliability history (DNF rate)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D0D0E0"/>
                </a:solidFill>
              </a:rPr>
              <a:t>●  reliability_risk score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3056" y="1325880"/>
            <a:ext cx="2697480" cy="25146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325880"/>
            <a:ext cx="54864" cy="2514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14173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External Factors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64224" y="18745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D0D0E0"/>
                </a:solidFill>
              </a:rPr>
              <a:t>●  circuit_specialty score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D0D0E0"/>
                </a:solidFill>
              </a:rPr>
              <a:t>●  grid_pace_delta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D0D0E0"/>
                </a:solidFill>
              </a:rPr>
              <a:t>●  Race year (time-series context)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D0D0E0"/>
                </a:solidFill>
              </a:rPr>
              <a:t>●  Weather / circuit type (encoded)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8321040" cy="86868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931920"/>
            <a:ext cx="54864" cy="8686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050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D700"/>
                </a:solidFill>
              </a:rPr>
              <a:t>DATA PIPELINE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" y="3986784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0F8"/>
                </a:solidFill>
              </a:rPr>
              <a:t>14 Raw CSVs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63040" y="3986784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7A90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423160" y="3986784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0F8"/>
                </a:solidFill>
              </a:rPr>
              <a:t>3 Category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F0F8"/>
                </a:solidFill>
              </a:rPr>
              <a:t>Dataframes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3986784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7A90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43400" y="3986784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0F8"/>
                </a:solidFill>
              </a:rPr>
              <a:t>1 Master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F0F8"/>
                </a:solidFill>
              </a:rPr>
              <a:t>Dataframe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03520" y="3986784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7A90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63640" y="3986784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0F8"/>
                </a:solidFill>
              </a:rPr>
              <a:t>Remove Pre-2010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F0F8"/>
                </a:solidFill>
              </a:rPr>
              <a:t>(no quali data)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223760" y="3986784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7A90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819813" y="3986784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0F8"/>
                </a:solidFill>
              </a:rPr>
              <a:t>Train / Test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F0F8"/>
                </a:solidFill>
              </a:rPr>
              <a:t>Time-Series Split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0116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0F0F8"/>
                </a:solidFill>
              </a:rPr>
              <a:t>MODEL ARCHITECTURE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3-Stage Cascade Classifier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321040" cy="475488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61872"/>
            <a:ext cx="54864" cy="47548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16736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002D"/>
                </a:solidFill>
              </a:rPr>
              <a:t>Why Not a Single Multi-Class Model?  </a:t>
            </a:r>
            <a:r>
              <a:rPr lang="en-US" sz="1000" dirty="0">
                <a:solidFill>
                  <a:srgbClr val="D0D0E0"/>
                </a:solidFill>
              </a:rPr>
              <a:t>Standard XGBoost on 4 classes fails on minority classes (only 1 winner per 20 drivers). Cascade breaks the problem into 3 balanced binary decisions, each optimized independently.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697480" cy="288036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74520"/>
            <a:ext cx="54864" cy="2880360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938528"/>
            <a:ext cx="804672" cy="237744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93852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5151E"/>
                </a:solidFill>
              </a:rPr>
              <a:t>MODEL 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" y="2249424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Points Filter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6928" y="260604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002D"/>
                </a:solidFill>
              </a:rPr>
              <a:t>❓ Top 10 or P11+?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294436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7A90"/>
                </a:solidFill>
              </a:rPr>
              <a:t>Input: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" y="2944368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</a:rPr>
              <a:t>All 20 drivers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318211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7A90"/>
                </a:solidFill>
              </a:rPr>
              <a:t>Top Features: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" y="338328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</a:rPr>
              <a:t>grid_pos, reliability_risk,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</a:rPr>
              <a:t>team_pts_rolling_avg, pace_z_score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" y="3822192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A90"/>
                </a:solidFill>
              </a:rPr>
              <a:t>DNFs &amp; grid position dominate back-of-field finishes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10128" y="1874520"/>
            <a:ext cx="2697480" cy="288036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10128" y="1874520"/>
            <a:ext cx="54864" cy="28803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19856" y="1938528"/>
            <a:ext cx="804672" cy="23774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9856" y="193852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5151E"/>
                </a:solidFill>
              </a:rPr>
              <a:t>MODEL B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19856" y="2249424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Podium Filter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19856" y="260604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</a:rPr>
              <a:t>❓ Podium (P1–3) or P4–10?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19856" y="294436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7A90"/>
                </a:solidFill>
              </a:rPr>
              <a:t>Input: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68496" y="2944368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</a:rPr>
              <a:t>Predicted Top-10 only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19856" y="318211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7A90"/>
                </a:solidFill>
              </a:rPr>
              <a:t>Top Features: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19856" y="338328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</a:rPr>
              <a:t>pace_z_score, grid_pace_delta,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</a:rPr>
              <a:t>circuit_specialty, prev_driver_rank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19856" y="3822192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A90"/>
                </a:solidFill>
              </a:rPr>
              <a:t>Pure pace &amp; circuit speciality separate podium from midfield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63056" y="1874520"/>
            <a:ext cx="2697480" cy="288036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1874520"/>
            <a:ext cx="54864" cy="2880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2784" y="1938528"/>
            <a:ext cx="80467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193852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5151E"/>
                </a:solidFill>
              </a:rPr>
              <a:t>MODEL C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72784" y="2249424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Winner Specialist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72784" y="260604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❓ P1 (Win) or P2/3?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72784" y="294436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7A90"/>
                </a:solidFill>
              </a:rPr>
              <a:t>Input: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21424" y="2944368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</a:rPr>
              <a:t>Predicted Podium only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72784" y="318211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7A90"/>
                </a:solidFill>
              </a:rPr>
              <a:t>Top Features: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72784" y="338328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</a:rPr>
              <a:t>pace_z_score, rolling_pace,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</a:rPr>
              <a:t>circuit_specialty, grid_pace_delta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72784" y="3822192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A90"/>
                </a:solidFill>
              </a:rPr>
              <a:t>At this granularity only raw pace &amp; circuit mastery decide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017520" y="306324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7A90"/>
                </a:solidFill>
              </a:rPr>
              <a:t>→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870448" y="306324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7A90"/>
                </a:solidFill>
              </a:rPr>
              <a:t>→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457200" y="4800600"/>
            <a:ext cx="8321040" cy="256032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" y="4800600"/>
            <a:ext cx="548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4828032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Cost-Sensitive Learning: </a:t>
            </a:r>
            <a:r>
              <a:rPr lang="en-US" sz="950" dirty="0">
                <a:solidFill>
                  <a:srgbClr val="D0D0E0"/>
                </a:solidFill>
              </a:rPr>
              <a:t>Minority class (Winner/Podium) misclassification penalized 3–5× more heavily, forcing models to learn rare patterns rather than defaulting to majority class.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5053"/>
            <a:ext cx="1463040" cy="20116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6587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0F0F8"/>
                </a:solidFill>
              </a:rPr>
              <a:t>KEY INSIGHT #1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Qualifying Strongly Predicts Race Outcomes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280160"/>
            <a:ext cx="2834640" cy="9144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280160"/>
            <a:ext cx="54864" cy="914400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70448" y="1353312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0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870448" y="184708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7A90"/>
                </a:solidFill>
              </a:rPr>
              <a:t>Pole → Win Rate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760720" y="2468880"/>
            <a:ext cx="2834640" cy="9144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2468880"/>
            <a:ext cx="54864" cy="9144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70448" y="2542032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5870448" y="303580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7A90"/>
                </a:solidFill>
              </a:rPr>
              <a:t>P1–3 → Podium Rate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760720" y="3657600"/>
            <a:ext cx="2834640" cy="9144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60720" y="3657600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70448" y="3730752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89%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5870448" y="422452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7A90"/>
                </a:solidFill>
              </a:rPr>
              <a:t>P1–5 → Points Finish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466344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</a:rPr>
              <a:t>Conclusion: </a:t>
            </a:r>
            <a:r>
              <a:rPr lang="en-US" sz="1000" dirty="0">
                <a:solidFill>
                  <a:srgbClr val="D0D0E0"/>
                </a:solidFill>
              </a:rPr>
              <a:t>Qualifying position is the single strongest pre-race predictor. The further back on the grid, the exponentially lower the chance of reaching the podium. This directly validates our core research hypothesis.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6587"/>
            <a:ext cx="1463040" cy="20116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3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0F0F8"/>
                </a:solidFill>
              </a:rPr>
              <a:t>KEY INSIGHT #2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SHAP: Each Model Learns Different Priorities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280160"/>
            <a:ext cx="2743200" cy="100584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0" y="1280160"/>
            <a:ext cx="54864" cy="1005840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0" y="13533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002D"/>
                </a:solidFill>
              </a:rPr>
              <a:t>Model 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17920" y="160934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</a:rPr>
              <a:t>grid_pos &amp; reliability_risk dominate — back-of-grid drivers often retire, DNFs are the key separator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035040" y="2468880"/>
            <a:ext cx="2743200" cy="100584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35040" y="2468880"/>
            <a:ext cx="54864" cy="10058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</a:rPr>
              <a:t>Model B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17920" y="279806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</a:rPr>
              <a:t>pace_z_score rises — once we filter DNFs, raw pace &amp; team form separate podium from midfield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35040" y="3657600"/>
            <a:ext cx="2743200" cy="100584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35040" y="365760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373075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Model C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17920" y="398678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</a:rPr>
              <a:t>pace_z_score &amp; circuit_specialty are #1 — at the very top, pure speed &amp; track mastery pick the winner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466344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</a:rPr>
              <a:t>SHAP Alignment with Sporting Reality: </a:t>
            </a:r>
            <a:r>
              <a:rPr lang="en-US" sz="1000" dirty="0">
                <a:solidFill>
                  <a:srgbClr val="D0D0E0"/>
                </a:solidFill>
              </a:rPr>
              <a:t>Feature importance shifts logically across stages — exactly matching how F1 engineers and strategists actually think about race outcomes at each phase of a weekend.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98120"/>
            <a:ext cx="1463040" cy="20116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1187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0F0F8"/>
                </a:solidFill>
              </a:rPr>
              <a:t>MODEL PERFORMANCE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Validation Results — Time-Series Split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61872"/>
          <a:ext cx="43891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261872"/>
          <a:ext cx="3749040" cy="2633472"/>
        </p:xfrm>
        <a:graphic>
          <a:graphicData uri="http://schemas.openxmlformats.org/drawingml/2006/table">
            <a:tbl>
              <a:tblPr/>
              <a:tblGrid>
                <a:gridCol w="937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Class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 · P11+ (No Points)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 · Top 10 (Points)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B · P4–10 (Points)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B · Podium (P1–3)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 · P2/3 (Podium)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 · Winner (P1)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977640"/>
            <a:ext cx="2011680" cy="9144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3977640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66928" y="4050792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0.931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566928" y="454456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7A90"/>
                </a:solidFill>
              </a:rPr>
              <a:t>Mean CV AUC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651760" y="3977640"/>
            <a:ext cx="2011680" cy="9144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651760" y="3977640"/>
            <a:ext cx="54864" cy="9144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61488" y="4050792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91%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2761488" y="454456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7A90"/>
                </a:solidFill>
              </a:rPr>
              <a:t>Top-10 Accuracy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846320" y="3977640"/>
            <a:ext cx="2011680" cy="9144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46320" y="3977640"/>
            <a:ext cx="54864" cy="914400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956048" y="4050792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0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66%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4956048" y="454456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7A90"/>
                </a:solidFill>
              </a:rPr>
              <a:t>Winner Recall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040880" y="3977640"/>
            <a:ext cx="2011680" cy="9144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040880" y="3977640"/>
            <a:ext cx="54864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50608" y="4050792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0→TS</a:t>
            </a:r>
            <a:endParaRPr lang="en-US" sz="3200" dirty="0"/>
          </a:p>
        </p:txBody>
      </p:sp>
      <p:sp>
        <p:nvSpPr>
          <p:cNvPr id="22" name="Text 18"/>
          <p:cNvSpPr/>
          <p:nvPr/>
        </p:nvSpPr>
        <p:spPr>
          <a:xfrm>
            <a:off x="7150608" y="454456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7A90"/>
                </a:solidFill>
              </a:rPr>
              <a:t>Leakage Fixed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57200" y="47365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700"/>
                </a:solidFill>
              </a:rPr>
              <a:t>Time-Series Split: </a:t>
            </a:r>
            <a:r>
              <a:rPr lang="en-US" sz="950" dirty="0">
                <a:solidFill>
                  <a:srgbClr val="7A7A90"/>
                </a:solidFill>
              </a:rPr>
              <a:t>Trained on 2010–2022, tested on 2023 only. Eliminates the data leakage that occurred with random 80/20 splitting across seasons.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0116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0F0F8"/>
                </a:solidFill>
              </a:rPr>
              <a:t>RISKS &amp; UNCERTAINTY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Honest Assessment of Limitations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4023360" cy="1078992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98448"/>
            <a:ext cx="54864" cy="1078992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389888"/>
            <a:ext cx="914400" cy="20116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389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5151E"/>
                </a:solidFill>
              </a:rPr>
              <a:t>HIGH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554480" y="137160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8"/>
                </a:solidFill>
              </a:rPr>
              <a:t>Black Swan Events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645920"/>
            <a:ext cx="38039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0E0"/>
                </a:solidFill>
              </a:rPr>
              <a:t>Safety cars, rain, lap-1 crashes. Model gives probability, not certainty. Real-time OpenF1 data updates help.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4023360" cy="1078992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68880"/>
            <a:ext cx="54864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560320"/>
            <a:ext cx="91440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560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5151E"/>
                </a:solidFill>
              </a:rPr>
              <a:t>RESOLVED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554480" y="254203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8"/>
                </a:solidFill>
              </a:rPr>
              <a:t>Data Leakage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2816352"/>
            <a:ext cx="38039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0E0"/>
                </a:solidFill>
              </a:rPr>
              <a:t>Random 80/20 split let model see future seasons. Fixed with Time-Series Split (2010–2022 → 2023).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639312"/>
            <a:ext cx="4023360" cy="1078992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639312"/>
            <a:ext cx="54864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730752"/>
            <a:ext cx="91440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7307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5151E"/>
                </a:solidFill>
              </a:rPr>
              <a:t>MITIGATED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554480" y="371246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8"/>
                </a:solidFill>
              </a:rPr>
              <a:t>Class Imbalance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3986784"/>
            <a:ext cx="38039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0E0"/>
                </a:solidFill>
              </a:rPr>
              <a:t>1 winner per 20 drivers. SMOTE failed. Solved with Cascade + Cost-Sensitive Learning (3–5× minority penalty).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1298448"/>
            <a:ext cx="4023360" cy="1078992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298448"/>
            <a:ext cx="54864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18888" y="1389888"/>
            <a:ext cx="91440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1389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5151E"/>
                </a:solidFill>
              </a:rPr>
              <a:t>MEDIUM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806440" y="137160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8"/>
                </a:solidFill>
              </a:rPr>
              <a:t>Dataset Scope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18888" y="1645920"/>
            <a:ext cx="38039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0E0"/>
                </a:solidFill>
              </a:rPr>
              <a:t>Kaggle dataset (Rohan Rao). 2024 live season validated via OpenF1 API — performance confirmed on unseen data.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468880"/>
            <a:ext cx="4023360" cy="1078992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468880"/>
            <a:ext cx="54864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18888" y="2560320"/>
            <a:ext cx="91440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2560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5151E"/>
                </a:solidFill>
              </a:rPr>
              <a:t>MEDIUM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806440" y="254203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8"/>
                </a:solidFill>
              </a:rPr>
              <a:t>Regulation Changes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18888" y="2816352"/>
            <a:ext cx="38039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0E0"/>
                </a:solidFill>
              </a:rPr>
              <a:t>2022 rule overhaul shifted car characteristics. Rolling-average features partially capture regulation-era shifts.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639312"/>
            <a:ext cx="4023360" cy="1078992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639312"/>
            <a:ext cx="54864" cy="1078992"/>
          </a:xfrm>
          <a:prstGeom prst="rect">
            <a:avLst/>
          </a:prstGeom>
          <a:solidFill>
            <a:srgbClr val="7A7A90"/>
          </a:solidFill>
          <a:ln w="12700">
            <a:solidFill>
              <a:srgbClr val="7A7A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18888" y="3730752"/>
            <a:ext cx="914400" cy="201168"/>
          </a:xfrm>
          <a:prstGeom prst="rect">
            <a:avLst/>
          </a:prstGeom>
          <a:solidFill>
            <a:srgbClr val="7A7A90"/>
          </a:solidFill>
          <a:ln w="12700">
            <a:solidFill>
              <a:srgbClr val="7A7A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37307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5151E"/>
                </a:solidFill>
              </a:rPr>
              <a:t>ACCEPTED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806440" y="371246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8"/>
                </a:solidFill>
              </a:rPr>
              <a:t>Winner Recall = 66%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18888" y="3986784"/>
            <a:ext cx="38039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0E0"/>
                </a:solidFill>
              </a:rPr>
              <a:t>At P1 granularity, F1 is inherently stochastic. Similar projects achieve identical ceilings — a dataset-class limit, not a modelling failure.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47731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7A90"/>
                </a:solidFill>
              </a:rPr>
              <a:t>"Our model provides a statistically grounded probability baseline — not a crystal ball. Acknowledging uncertainty makes the tool more trustworthy, not less."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0116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0F0F8"/>
                </a:solidFill>
              </a:rPr>
              <a:t>DEPLOYMENT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Streamlit App — Deployed &amp; Live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352044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3520440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002D"/>
                </a:solidFill>
              </a:rPr>
              <a:t>APP FEATURES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1907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F8"/>
                </a:solidFill>
              </a:rPr>
              <a:t>⚡ Live Input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568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90"/>
                </a:solidFill>
              </a:rPr>
              <a:t>Enter grid position, pace, team form, reliability → instant prediction via deployed app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30428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F8"/>
                </a:solidFill>
              </a:rPr>
              <a:t>🔁 Cascade Flow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90"/>
                </a:solidFill>
              </a:rPr>
              <a:t>Runs Model A → B → C in sequence, displays each stage probability live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88950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F8"/>
                </a:solidFill>
              </a:rPr>
              <a:t>📊 Confidence Score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272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90"/>
                </a:solidFill>
              </a:rPr>
              <a:t>Returns final class + probability percentage displayed in real time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F8"/>
                </a:solidFill>
              </a:rPr>
              <a:t>🔗 OpenF1 Connected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712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90"/>
                </a:solidFill>
              </a:rPr>
              <a:t>Pulls live qualifying session data directly from OpenF1 API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405993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F8"/>
                </a:solidFill>
              </a:rPr>
              <a:t>✅ Deployed on GitHub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90"/>
                </a:solidFill>
              </a:rPr>
              <a:t>Live on Streamlit Cloud — publicly accessible from our GitHub repo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280160"/>
            <a:ext cx="4114800" cy="352044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280160"/>
            <a:ext cx="54864" cy="3520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371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</a:rPr>
              <a:t>MODEL PREDICTION LOGIC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73168" y="1719072"/>
            <a:ext cx="3858768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A: Points Filter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pred_a = model_a.predict(inp_scaled)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pred_a == 0: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return 'P11+ · No Points'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B: Podium Filter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pred_b = model_b.predict(inp_scaled)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pred_b == 0: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return 'P4–10 · Points Finish'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C: Winner Specialist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pred_c = model_c.predict(inp_scaled)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pred_c == 1: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return 'P1 · Race Winner 🏆'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return 'P2/3 · Podium'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4864608"/>
            <a:ext cx="8321040" cy="18288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864608"/>
            <a:ext cx="54864" cy="1828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882896"/>
            <a:ext cx="7955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requirements.txt:   streamlit   xgboost   scikit-learn   pandas   numpy   plotly   shap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0116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0F0F8"/>
                </a:solidFill>
              </a:rPr>
              <a:t>LIVE DEMO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Sample Prediction Walkthrough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2743200" cy="356616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61872"/>
            <a:ext cx="54864" cy="3566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D700"/>
                </a:solidFill>
              </a:rPr>
              <a:t>INPUT SCENARIO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6276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Driver X · Monza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90"/>
                </a:solidFill>
              </a:rPr>
              <a:t>Grid Position: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0" y="2057400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0F8"/>
                </a:solidFill>
              </a:rPr>
              <a:t>P1 (Pole)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4963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90"/>
                </a:solidFill>
              </a:rPr>
              <a:t>Pace Z-Score: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11680" y="249631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0F8"/>
                </a:solidFill>
              </a:rPr>
              <a:t>+1.8 (very fast)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293522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90"/>
                </a:solidFill>
              </a:rPr>
              <a:t>Team Pts Avg: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11680" y="293522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0F8"/>
                </a:solidFill>
              </a:rPr>
              <a:t>88 / race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33741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90"/>
                </a:solidFill>
              </a:rPr>
              <a:t>Champ Standing: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11680" y="3374136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0F8"/>
                </a:solidFill>
              </a:rPr>
              <a:t>#1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381304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90"/>
                </a:solidFill>
              </a:rPr>
              <a:t>Reliability Risk: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11680" y="3813048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0F8"/>
                </a:solidFill>
              </a:rPr>
              <a:t>0.05 (reliable)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42519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90"/>
                </a:solidFill>
              </a:rPr>
              <a:t>Circuit Specialty: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11680" y="4251960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0F8"/>
                </a:solidFill>
              </a:rPr>
              <a:t>+1.6 (specialist)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0" y="1261872"/>
            <a:ext cx="1691640" cy="22860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0" y="1261872"/>
            <a:ext cx="54864" cy="2286000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4448" y="13533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E8002D"/>
                </a:solidFill>
              </a:rPr>
              <a:t>MODEL 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584448" y="1600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0F8"/>
                </a:solidFill>
              </a:rPr>
              <a:t>Top 10?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84448" y="195681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YES 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84448" y="235915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0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584448" y="286207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7A7A90"/>
                </a:solidFill>
              </a:rPr>
              <a:t>confidence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73980" y="2198793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A7A90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349240" y="1261872"/>
            <a:ext cx="1691640" cy="22860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49240" y="1261872"/>
            <a:ext cx="54864" cy="22860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58968" y="13533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D700"/>
                </a:solidFill>
              </a:rPr>
              <a:t>MODEL B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58968" y="1600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0F8"/>
                </a:solidFill>
              </a:rPr>
              <a:t>Podium?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58968" y="195681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YES 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58968" y="235915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91%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5458968" y="286207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7A7A90"/>
                </a:solidFill>
              </a:rPr>
              <a:t>confidence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040034" y="2215726"/>
            <a:ext cx="243501" cy="3488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A7A90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223760" y="1261872"/>
            <a:ext cx="1691640" cy="22860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23760" y="1261872"/>
            <a:ext cx="54864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33488" y="13533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B4D8"/>
                </a:solidFill>
              </a:rPr>
              <a:t>MODEL C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33488" y="1600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0F8"/>
                </a:solidFill>
              </a:rPr>
              <a:t>Winner?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33488" y="195681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YES ✓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33488" y="235915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78%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7333488" y="286207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7A7A90"/>
                </a:solidFill>
              </a:rPr>
              <a:t>confidence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474720" y="3703320"/>
            <a:ext cx="5349240" cy="777240"/>
          </a:xfrm>
          <a:prstGeom prst="rect">
            <a:avLst/>
          </a:prstGeom>
          <a:solidFill>
            <a:srgbClr val="1A1000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66160" y="3835061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FINAL PREDICTION:  P1 · Race Winner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3566160" y="4228931"/>
            <a:ext cx="5166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A90"/>
                </a:solidFill>
              </a:rPr>
              <a:t>Combined confidence across all 3 cascade stages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7200" y="4663440"/>
            <a:ext cx="54864" cy="347472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472744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002D"/>
                </a:solidFill>
              </a:rPr>
              <a:t>Counter Scenario: </a:t>
            </a:r>
            <a:r>
              <a:rPr lang="en-US" sz="950" dirty="0">
                <a:solidFill>
                  <a:srgbClr val="D0D0E0"/>
                </a:solidFill>
              </a:rPr>
              <a:t>Driver starts P14, pace_z = −1.2, reliability_risk = 0.65 → Model A: P11+ (83% conf.) → Cascade stops → No Points predicted. Mirrors real F1 back-marker dynamics.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0116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0F0F8"/>
                </a:solidFill>
              </a:rPr>
              <a:t>FINAL RESULTS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Built &amp; What We Found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321040" cy="749808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61872"/>
            <a:ext cx="54864" cy="74980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16736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002D"/>
                </a:solidFill>
              </a:rPr>
              <a:t>Cascade Classifier Successfully Deployed.  </a:t>
            </a:r>
            <a:r>
              <a:rPr lang="en-US" sz="1050" dirty="0">
                <a:solidFill>
                  <a:srgbClr val="D0D0E0"/>
                </a:solidFill>
              </a:rPr>
              <a:t>The model achieves stable CV AUC ≥ 0.91 across time-series folds, correctly identifies grid position + dynamic form as primary race predictors, and directly answers the research question: </a:t>
            </a:r>
            <a:r>
              <a:rPr lang="en-US" sz="1050" i="1" dirty="0">
                <a:solidFill>
                  <a:srgbClr val="D0D0E0"/>
                </a:solidFill>
              </a:rPr>
              <a:t>qualifying predicts outcomes — but pace, team form &amp; reliability are equally decisive.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8321040" cy="4572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21408"/>
            <a:ext cx="54864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167128"/>
            <a:ext cx="118872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1671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5151E"/>
                </a:solidFill>
              </a:rPr>
              <a:t>✅ DONE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920240" y="21488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8"/>
                </a:solidFill>
              </a:rPr>
              <a:t>Cascade Architecture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2148840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90"/>
                </a:solidFill>
              </a:rPr>
              <a:t>3-stage XGBoost A→B→C with cost-sensitive learning and SHAP analysis.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8321040" cy="4572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51760"/>
            <a:ext cx="54864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697480"/>
            <a:ext cx="118872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974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5151E"/>
                </a:solidFill>
              </a:rPr>
              <a:t>✅ DONE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920240" y="267919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8"/>
                </a:solidFill>
              </a:rPr>
              <a:t>Data Leakage Fix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2679192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90"/>
                </a:solidFill>
              </a:rPr>
              <a:t>Time-Series Split eliminates random-split leakage. Train 2010–22, test 2023.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182112"/>
            <a:ext cx="8321040" cy="4572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82112"/>
            <a:ext cx="54864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227832"/>
            <a:ext cx="118872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2278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5151E"/>
                </a:solidFill>
              </a:rPr>
              <a:t>✅ DONE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920240" y="320954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8"/>
                </a:solidFill>
              </a:rPr>
              <a:t>Streamlit Deployment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26280" y="3209544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90"/>
                </a:solidFill>
              </a:rPr>
              <a:t>Live on Streamlit Cloud via GitHub. OpenF1 API connected for real-time qualifying input.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712464"/>
            <a:ext cx="8321040" cy="4572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712464"/>
            <a:ext cx="54864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3758184"/>
            <a:ext cx="118872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7581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5151E"/>
                </a:solidFill>
              </a:rPr>
              <a:t>✅ DONE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920240" y="373989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8"/>
                </a:solidFill>
              </a:rPr>
              <a:t>Tableau Dashboard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26280" y="3739896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90"/>
                </a:solidFill>
              </a:rPr>
              <a:t>Deployed — driver trend lines, SHAP summary plots, qualifying-to-win correlation heatmap.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242816"/>
            <a:ext cx="8321040" cy="4572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242816"/>
            <a:ext cx="54864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" y="4288536"/>
            <a:ext cx="118872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42885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5151E"/>
                </a:solidFill>
              </a:rPr>
              <a:t>✅ DONE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920240" y="427024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8"/>
                </a:solidFill>
              </a:rPr>
              <a:t>2024 Live Validation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26280" y="4270248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90"/>
                </a:solidFill>
              </a:rPr>
              <a:t>Back-tested on full 2024 season. Model generalizes — performance consistent with validation metrics.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0633" y="4739301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002D"/>
                </a:solidFill>
              </a:rPr>
              <a:t>KEY FINDINGS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940469"/>
            <a:ext cx="82296" cy="82296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8960" y="4920827"/>
            <a:ext cx="20848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A90"/>
                </a:solidFill>
              </a:rPr>
              <a:t>Grid position is F1's #1 pre-race predictor — pole sitters win 38% of races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670048" y="4940470"/>
            <a:ext cx="82296" cy="82296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73341" y="4903893"/>
            <a:ext cx="20848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A90"/>
                </a:solidFill>
              </a:rPr>
              <a:t>Cascade classifier outperforms single multi-class XGBoost on minority classes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865963" y="4948936"/>
            <a:ext cx="82296" cy="82296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60789" y="4912360"/>
            <a:ext cx="20848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A90"/>
                </a:solidFill>
              </a:rPr>
              <a:t>Dynamic features (pace_z_score, rolling_avg) &gt; static history — momentum matters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095744" y="4948936"/>
            <a:ext cx="82296" cy="82296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24437" y="4895427"/>
            <a:ext cx="20848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A90"/>
                </a:solidFill>
              </a:rPr>
              <a:t>Irreducible stochasticity acknowledged — model is a probability tool, not an oracle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8321040" cy="0"/>
          </a:xfrm>
          <a:prstGeom prst="line">
            <a:avLst/>
          </a:prstGeom>
          <a:noFill/>
          <a:ln w="6350">
            <a:solidFill>
              <a:srgbClr val="2222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8321040" cy="0"/>
          </a:xfrm>
          <a:prstGeom prst="line">
            <a:avLst/>
          </a:prstGeom>
          <a:noFill/>
          <a:ln w="6350">
            <a:solidFill>
              <a:srgbClr val="2222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8321040" cy="0"/>
          </a:xfrm>
          <a:prstGeom prst="line">
            <a:avLst/>
          </a:prstGeom>
          <a:noFill/>
          <a:ln w="6350">
            <a:solidFill>
              <a:srgbClr val="2222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8321040" cy="0"/>
          </a:xfrm>
          <a:prstGeom prst="line">
            <a:avLst/>
          </a:prstGeom>
          <a:noFill/>
          <a:ln w="6350">
            <a:solidFill>
              <a:srgbClr val="2222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8321040" cy="0"/>
          </a:xfrm>
          <a:prstGeom prst="line">
            <a:avLst/>
          </a:prstGeom>
          <a:noFill/>
          <a:ln w="6350">
            <a:solidFill>
              <a:srgbClr val="2222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514600"/>
            <a:ext cx="8321040" cy="0"/>
          </a:xfrm>
          <a:prstGeom prst="line">
            <a:avLst/>
          </a:prstGeom>
          <a:noFill/>
          <a:ln w="6350">
            <a:solidFill>
              <a:srgbClr val="2222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26080"/>
            <a:ext cx="8321040" cy="0"/>
          </a:xfrm>
          <a:prstGeom prst="line">
            <a:avLst/>
          </a:prstGeom>
          <a:noFill/>
          <a:ln w="6350">
            <a:solidFill>
              <a:srgbClr val="2222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337560"/>
            <a:ext cx="8321040" cy="0"/>
          </a:xfrm>
          <a:prstGeom prst="line">
            <a:avLst/>
          </a:prstGeom>
          <a:noFill/>
          <a:ln w="6350">
            <a:solidFill>
              <a:srgbClr val="2222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749040"/>
            <a:ext cx="8321040" cy="0"/>
          </a:xfrm>
          <a:prstGeom prst="line">
            <a:avLst/>
          </a:prstGeom>
          <a:noFill/>
          <a:ln w="6350">
            <a:solidFill>
              <a:srgbClr val="2222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160520"/>
            <a:ext cx="8321040" cy="0"/>
          </a:xfrm>
          <a:prstGeom prst="line">
            <a:avLst/>
          </a:prstGeom>
          <a:noFill/>
          <a:ln w="6350">
            <a:solidFill>
              <a:srgbClr val="2222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572000"/>
            <a:ext cx="8321040" cy="0"/>
          </a:xfrm>
          <a:prstGeom prst="line">
            <a:avLst/>
          </a:prstGeom>
          <a:noFill/>
          <a:ln w="6350">
            <a:solidFill>
              <a:srgbClr val="2222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983480"/>
            <a:ext cx="8321040" cy="0"/>
          </a:xfrm>
          <a:prstGeom prst="line">
            <a:avLst/>
          </a:prstGeom>
          <a:noFill/>
          <a:ln w="6350">
            <a:solidFill>
              <a:srgbClr val="2222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300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16" name="Shape 14"/>
          <p:cNvSpPr/>
          <p:nvPr/>
        </p:nvSpPr>
        <p:spPr>
          <a:xfrm>
            <a:off x="3474720" y="2240280"/>
            <a:ext cx="2286000" cy="54864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39572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0D0E0"/>
                </a:solidFill>
              </a:rPr>
              <a:t>Ahnaf Harappa  ·  Tajwar Fahmid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2761488"/>
            <a:ext cx="7315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7A7A90"/>
                </a:solidFill>
              </a:rPr>
              <a:t>DATA 4382 – Capstone II 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1554480" cy="9144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83280"/>
            <a:ext cx="54864" cy="914400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45643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0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66928" y="395020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7A90"/>
                </a:solidFill>
              </a:rPr>
              <a:t>CSV Sources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76272" y="3383280"/>
            <a:ext cx="1554480" cy="9144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176272" y="3383280"/>
            <a:ext cx="54864" cy="9144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345643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2286000" y="395020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7A90"/>
                </a:solidFill>
              </a:rPr>
              <a:t>Cascade Models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95344" y="3383280"/>
            <a:ext cx="1554480" cy="9144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95344" y="3383280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05072" y="345643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0.931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005072" y="395020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7A90"/>
                </a:solidFill>
              </a:rPr>
              <a:t>CV AUC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14416" y="3383280"/>
            <a:ext cx="1554480" cy="9144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14416" y="3383280"/>
            <a:ext cx="54864" cy="914400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24144" y="345643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C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2010–23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24144" y="395020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7A90"/>
                </a:solidFill>
              </a:rPr>
              <a:t>Data Window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33488" y="3383280"/>
            <a:ext cx="1554480" cy="914400"/>
          </a:xfrm>
          <a:prstGeom prst="rect">
            <a:avLst/>
          </a:prstGeom>
          <a:solidFill>
            <a:srgbClr val="252535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33488" y="3383280"/>
            <a:ext cx="54864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43216" y="345643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SHAP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7443216" y="395020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7A90"/>
                </a:solidFill>
              </a:rPr>
              <a:t>Interpretability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773168"/>
            <a:ext cx="832104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</a:rPr>
              <a:t>Dataset: Kaggle F1 (Rohan Rao)  ·  García &amp; de la Torre (2018)  ·  Kozar &amp; Roberts (2021)  ·  Markovits &amp; Albert (2022)</a:t>
            </a:r>
            <a:endParaRPr lang="en-US" sz="800" b="1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 Qualifying Predict Race Outcomes in Formula 1?</dc:title>
  <dc:subject>PptxGenJS Presentation</dc:subject>
  <dc:creator>Ahnaf Harappa &amp; Tajwar Fahmid</dc:creator>
  <cp:lastModifiedBy>Ahnaf Harappa &amp; Tajwar Fahmid</cp:lastModifiedBy>
  <cp:revision>33</cp:revision>
  <dcterms:created xsi:type="dcterms:W3CDTF">2026-04-20T22:35:03Z</dcterms:created>
  <dcterms:modified xsi:type="dcterms:W3CDTF">2026-04-20T22:50:17Z</dcterms:modified>
</cp:coreProperties>
</file>